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IdLst>
    <p:sldId id="256" r:id="rId1"/>
  </p:sldIdLst>
  <p:sldSz cx="9144000" cy="51435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charts/_rels/chart1.xml.rels><?xml version="1.0" encoding="UTF-8" standalone="yes"?><Relationships xmlns="http://schemas.openxmlformats.org/package/2006/relationships"/>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Sample page accesses</a:t>
            </a:r>
          </a:p>
        </c:rich>
      </c:tx>
    </c:title>
    <c:plotArea>
      <c:barChart>
        <c:barDir val="col"/>
        <c:grouping val="clustered"/>
        <c:ser>
          <c:idx val="0"/>
          <c:order val="0"/>
          <c:tx>
            <c:v>Access count</c:v>
          </c:tx>
          <c:cat>
            <c:strRef>
              <c:f>Sheet1!$A$2:$A$4</c:f>
              <c:strCache>
                <c:ptCount val="3"/>
                <c:pt idx="0">
                  <c:v>Page A</c:v>
                </c:pt>
                <c:pt idx="1">
                  <c:v>Page B</c:v>
                </c:pt>
                <c:pt idx="2">
                  <c:v>Page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7</c:v>
                </c:pt>
                <c:pt idx="2">
                  <c:v>3</c:v>
                </c:pt>
              </c:numCache>
            </c:numRef>
          </c:val>
        </c:ser>
        <c:axId val="10"/>
        <c:axId val="20"/>
      </c:barChart>
      <c:catAx>
        <c:axId val="10"/>
        <c:scaling>
          <c:orientation val="minMax"/>
        </c:scaling>
        <c:axPos val="b"/>
        <c:crossAx val="20"/>
        <c:tickLblPos val="nextTo"/>
      </c:catAx>
      <c:valAx>
        <c:axId val="20"/>
        <c:scaling>
          <c:orientation val="minMax"/>
        </c:scaling>
        <c:axPos val="l"/>
        <c:crossAx val="10"/>
      </c:valAx>
    </c:plotArea>
    <c:legend>
      <c:legendPos val="b"/>
    </c:legend>
  </c:chart>
</c:chartSpace>
</file>

<file path=ppt/slideLayouts/_rels/slideLayout1.xml.rels><?xml version="1.0" encoding="UTF-8" standalone="yes"?><Relationships xmlns="http://schemas.openxmlformats.org/package/2006/relationships"/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study-flow.png"/><Relationship Id="rIdChart" Type="http://schemas.openxmlformats.org/officeDocument/2006/relationships/chart" Target="../charts/char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/>
              <a:t>Virtual Memory: Paging and Page Faults</a:t>
            </a:r>
            <a:endParaRPr lang="en-US"/>
          </a:p>
        </p:txBody>
      </p:sp>
      <p:sp>
        <p:nvSpPr>
          <p:cNvPr id="3" name="Key ideas"/>
          <p:cNvSpPr/>
          <p:nvPr/>
        </p:nvSpPr>
        <p:spPr/>
        <p:txBody>
          <a:bodyPr/>
          <a:lstStyle/>
          <a:p>
            <a:r>
              <a:rPr lang="en-US" b="1"/>
              <a:t>Key idea: a virtual page maps to a physical frame through a page table.</a:t>
            </a:r>
          </a:p>
          <a:p>
            <a:r>
              <a:rPr lang="en-US"/>
              <a:t>A page fault happens when the referenced page is absent from main memory.</a:t>
            </a:r>
          </a:p>
          <a:p>
            <a:r>
              <a:rPr lang="en-US"/>
              <a:t>The operating system loads the missing page, updates the table, and retries the instruction.</a:t>
            </a:r>
          </a:p>
        </p:txBody>
      </p:sp>
      <p:pic>
        <p:nvPicPr>
          <p:cNvPr id="4" name="Page translation diagram" descr="Flow diagram from virtual page through page table to physical fram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600000" y="1800000"/>
            <a:ext cx="4200000" cy="1312500"/>
          </a:xfrm>
          <a:prstGeom prst="rect">
            <a:avLst/>
          </a:prstGeom>
        </p:spPr>
      </p:pic>
      <p:graphicFrame>
        <p:nvGraphicFramePr>
          <p:cNvPr id="5" name="Page access observations chart"/>
          <p:cNvGraphicFramePr/>
          <p:nvPr/>
        </p:nvGraphicFramePr>
        <p:xfrm>
          <a:off x="5000000" y="1700000"/>
          <a:ext cx="3500000" cy="22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"/>
          </a:graphicData>
        </a:graphic>
      </p:graphicFrame>
    </p:spTree>
  </p:cSld>
</p:sld>
</file>